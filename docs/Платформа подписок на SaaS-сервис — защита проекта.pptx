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80" r:id="rId33"/>
    <p:sldId id="299" r:id="rId60"/>
    <p:sldId id="289" r:id="rId42"/>
    <p:sldId id="282" r:id="rId35"/>
    <p:sldId id="296" r:id="rId49"/>
    <p:sldId id="300" r:id="rId61"/>
    <p:sldId id="301" r:id="rId62"/>
    <p:sldId id="302" r:id="rId63"/>
    <p:sldId id="263" r:id="rId16"/>
    <p:sldId id="264" r:id="rId17"/>
    <p:sldId id="265" r:id="rId18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D6634D-CB67-42F1-A98D-B4EE6CB23862}">
  <a:tblStyle styleId="{8CD6634D-CB67-42F1-A98D-B4EE6CB238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33" Type="http://schemas.openxmlformats.org/officeDocument/2006/relationships/slide" Target="slides/slide25.xml"/><Relationship Id="rId35" Type="http://schemas.openxmlformats.org/officeDocument/2006/relationships/slide" Target="slides/slide27.xml"/><Relationship Id="rId42" Type="http://schemas.openxmlformats.org/officeDocument/2006/relationships/slide" Target="slides/slide34.xml"/><Relationship Id="rId49" Type="http://schemas.openxmlformats.org/officeDocument/2006/relationships/slide" Target="slides/slide41.xml"/><Relationship Id="rId52" Type="http://schemas.openxmlformats.org/officeDocument/2006/relationships/font" Target="fonts/Roboto-regular.fntdata"/><Relationship Id="rId53" Type="http://schemas.openxmlformats.org/officeDocument/2006/relationships/font" Target="fonts/Roboto-bold.fntdata"/><Relationship Id="rId54" Type="http://schemas.openxmlformats.org/officeDocument/2006/relationships/font" Target="fonts/Roboto-italic.fntdata"/><Relationship Id="rId55" Type="http://schemas.openxmlformats.org/officeDocument/2006/relationships/font" Target="fonts/Roboto-boldItalic.fntdata"/><Relationship Id="rId56" Type="http://schemas.openxmlformats.org/officeDocument/2006/relationships/font" Target="fonts/RobotoMedium-regular.fntdata"/><Relationship Id="rId57" Type="http://schemas.openxmlformats.org/officeDocument/2006/relationships/font" Target="fonts/RobotoMedium-bold.fntdata"/><Relationship Id="rId58" Type="http://schemas.openxmlformats.org/officeDocument/2006/relationships/font" Target="fonts/RobotoMedium-italic.fntdata"/><Relationship Id="rId59" Type="http://schemas.openxmlformats.org/officeDocument/2006/relationships/font" Target="fonts/RobotoMedium-boldItalic.fntdata"/><Relationship Id="rId60" Type="http://schemas.openxmlformats.org/officeDocument/2006/relationships/slide" Target="slides/slide44.xml"/><Relationship Id="rId61" Type="http://schemas.openxmlformats.org/officeDocument/2006/relationships/slide" Target="slides/slide45.xml"/><Relationship Id="rId62" Type="http://schemas.openxmlformats.org/officeDocument/2006/relationships/slide" Target="slides/slide46.xml"/><Relationship Id="rId63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Добрый день. Меня зовут Александр Ципорин, и сегодня я защищаю проект курса OTUS «Микросервисы на Go».</a:t>
            </a:r>
          </a:p>
          <a:p>
            <a:r>
              <a:t>Тема — платформа подписок на SaaS-сервис. В качестве сервиса у меня AI-генерация, но она здесь вторична: главное — подписки, лимиты и платежи.</a:t>
            </a:r>
          </a:p>
          <a:p>
            <a:r>
              <a:t>Технически это один репозиторий и один Go-модуль, в котором четыре сервиса за Gateway.</a:t>
            </a:r>
          </a:p>
          <a:p>
            <a:r>
              <a:t>(~30 сек)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Прежде чем начать — меня хорошо видно и слышно?</a:t>
            </a:r>
          </a:p>
          <a:p>
            <a:r>
              <a:t>(пауза, дождаться ответа)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Пара слов о себе. Я разработчик AI-решений в ПравоТех. Сейчас готовлю данные для AI-агентов и проектирую их логику, а раньше работал инженером данных.</a:t>
            </a:r>
          </a:p>
          <a:p>
            <a:r>
              <a:t>Go я использую в реальной разработке, а на курс пришёл, чтобы прокачать проектирование микросервисов.</a:t>
            </a:r>
          </a:p>
          <a:p>
            <a:r>
              <a:t>Тему взял не с потолка: это часть проекта, который наша команда уже сделала. Но он написан на другом стеке и не соответствует требованиям курса, поэтому я переосмыслил его в микросервисной архитектуре на Go.</a:t>
            </a:r>
          </a:p>
          <a:p>
            <a:r>
              <a:t>(~45 сек)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План такой: сначала цель и задачи, затем стек. Потом покажу, как проходит один запрос на генерацию, дальше — цифры с демо-прогона и выводы. В конце — вопросы.</a:t>
            </a:r>
          </a:p>
          <a:p>
            <a:r>
              <a:t>(~15 сек)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Цель — платформа подписок, которая пускает генерацию только при живой подписке и оставшемся лимите.</a:t>
            </a:r>
          </a:p>
          <a:p>
            <a:r>
              <a:t>Для этого я решал пять задач: поднять четыре сервиса и Gateway, связать их событиями и построить проекцию лимита, реализовать платежи и смену тарифа, добавить метрики, логи и трейсы и в конце прогнать всё под нагрузкой.</a:t>
            </a:r>
          </a:p>
          <a:p>
            <a:r>
              <a:t>Важная деталь: квота считается в сообщениях. Токены пишутся в аналитику, но на допуск не влияют.</a:t>
            </a:r>
          </a:p>
          <a:p>
            <a:r>
              <a:t>(~50 сек)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Выводы. Первое: генерация действительно проходит Gateway, подписку и лимит — это видно и в трейсе, и в 5443 ответах прогона.</a:t>
            </a:r>
          </a:p>
          <a:p>
            <a:r>
              <a:t>Второе: лимит живёт в Redis, история — в ClickHouse. Овердрафт на графике — 710.</a:t>
            </a:r>
          </a:p>
          <a:p>
            <a:r>
              <a:t>Третье: самым сложным оказалось согласовать быстрый допуск и позднее списание.</a:t>
            </a:r>
          </a:p>
          <a:p>
            <a:r>
              <a:t>Лично для меня курс был полезным. Что-то я уже знал, но вынес много нового — прежде всего методологию DDD и подход к observability. Больше всего времени ушло на продумывание задания и спецификации, плюс несколько экспериментов. Идею проекта я планирую применить на практике.</a:t>
            </a:r>
          </a:p>
          <a:p>
            <a:r>
              <a:t>В репозитории есть отдельный отказоустойчивый контур task ha:up, но в этот прогон он не входил.</a:t>
            </a:r>
          </a:p>
          <a:p>
            <a:r>
              <a:t>(Если спросят про идемпотентность: повторная доставка NATS с тем же id и другим телом отклоняется, в логе Usage 2509 таких конфликтов.)</a:t>
            </a:r>
          </a:p>
          <a:p>
            <a:r>
              <a:t>(~75 сек)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Спасибо, на этом всё. Буду рад вопросам и рекомендациям.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Спасибо за внимание!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Архитектура. Снаружи доступен только Gateway. Публичных маршрутов три: регистрация, логин и вебхук платёжки. Всё остальное требует JWT.</a:t>
            </a:r>
          </a:p>
          <a:p>
            <a:r>
              <a:t>Внутрь Gateway ходит по gRPC в Auth, Subscriptions и Usage. Вебхук тоже транслируется во внутренний RPC.</a:t>
            </a:r>
          </a:p>
          <a:p>
            <a:r>
              <a:t>Auth и Subscriptions хранят данные в своих базах PostgreSQL. Usage получает события из NATS и по ним обновляет остаток в Redis и историю в ClickHouse.</a:t>
            </a:r>
          </a:p>
          <a:p>
            <a:r>
              <a:t>(~60 сек)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Бизнес-дашборд в Grafana. Сообщения и токены начинают расти примерно в 20:12 по UTC, когда стартовала нагрузка. Жёлтая линия — пользователи, зелёная — организация.</a:t>
            </a:r>
          </a:p>
          <a:p>
            <a:r>
              <a:t>Овердрафт организации — 710 по данным Prometheus. Важно: он появляется не в момент ответа Gateway, а когда Usage применил события. Проверка пускает запрос при остатке больше нуля, а списание приходит позже.</a:t>
            </a:r>
          </a:p>
          <a:p>
            <a:r>
              <a:t>На панели Payments видно, что платежи дошли до Usage.</a:t>
            </a:r>
          </a:p>
          <a:p>
            <a:r>
              <a:t>(~50 сек)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Технический дашборд. Запросы на /api/v1/generate дают всплеск во время прогона, примерно 20:12–20:18. p95 по гистограмме — около 240 мс. На слайде с цифрами было 200 мс: там клиентский замер генератора нагрузки, а здесь оценка по корзинам гистограммы Prometheus.</a:t>
            </a:r>
          </a:p>
          <a:p>
            <a:r>
              <a:t>Внизу — логи всех четырёх сервисов в одной панели, их можно фильтровать по сервису, уровню и trace_id.</a:t>
            </a:r>
          </a:p>
          <a:p>
            <a:r>
              <a:t>На кадре один индикатор здоровья ненадолго показал 0, но следующий запрос к Prometheus показал service_healthy = 1 у auth, gateway, subscriptions и usage.</a:t>
            </a:r>
          </a:p>
          <a:p>
            <a:r>
              <a:t>(~50 сек)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Трейс одного запроса POST /api/v1/generate в Jaeger: 158.92 мс, 4 сервиса, 11 спанов.</a:t>
            </a:r>
          </a:p>
          <a:p>
            <a:r>
              <a:t>В водопаде видны ValidateToken, CheckSubscription, LookupSubject и CheckLimit. Все проверки допуска вместе занимают около 2 мс, остальное время — эмуляция AI.</a:t>
            </a:r>
          </a:p>
          <a:p>
            <a:r>
              <a:t>Номер трейса — 5183b8b9bbd65c40d3f6ee75f65c2cf9, могу открыть его вживую.</a:t>
            </a:r>
          </a:p>
          <a:p>
            <a:r>
              <a:t>(~40 сек)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Стек. Сервисы на Go: chi для REST, gRPC с mTLS между сервисами.</a:t>
            </a:r>
          </a:p>
          <a:p>
            <a:r>
              <a:t>PostgreSQL хранит пользователей, тарифы и подписки. Redis держит текущий остаток лимита, ClickHouse — события и логи. Асинхронная связь — NATS JetStream. Наблюдаемость — Prometheus, Grafana и Jaeger.</a:t>
            </a:r>
          </a:p>
          <a:p>
            <a:r>
              <a:t>Принцип, которого я держался: сервисы не импортируют друг друга. Вся связь — через контракты в каталоге api: OpenAPI снаружи, protobuf для gRPC и событий. Допуск к генерации читается из Redis, а история остаётся в ClickHouse.</a:t>
            </a:r>
          </a:p>
          <a:p>
            <a:r>
              <a:t>(~60 сек)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Три правила лимита.</a:t>
            </a:r>
          </a:p>
          <a:p>
            <a:r>
              <a:t>Первое: квота в сообщениях, токены — только аналитика.</a:t>
            </a:r>
          </a:p>
          <a:p>
            <a:r>
              <a:t>Второе: резервирования нет, поэтому параллельные запросы могут увести остаток в минус. Это осознанный овердрафт.</a:t>
            </a:r>
          </a:p>
          <a:p>
            <a:r>
              <a:t>Третье: B2C при неоплате уходит на базовый тариф, B2B делит общий лимит организации, а повтор с тем же ключом идемпотентности второй раз не применяется.</a:t>
            </a:r>
          </a:p>
          <a:p>
            <a:r>
              <a:t>При продлении новый остаток равен квоте тарифа плюс отрицательный остаток, если он есть. На прогоне смена тарифа дала остаток 2500: неиспользованный платный лимит переносится.</a:t>
            </a:r>
          </a:p>
          <a:p>
            <a:r>
              <a:t>(~60 сек)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Так проходит один запрос на генерацию. Пять этапов: Gateway проверяет JWT, затем подписку, затем лимит. Если всё в порядке — вызывается эмуляция AI, а в конце публикуется событие в NATS.</a:t>
            </a:r>
          </a:p>
          <a:p>
            <a:r>
              <a:t>Успех публикует MessageProcessed и списывает одно сообщение. Ошибка публикует MessageFailed, и лимит не списывается.</a:t>
            </a:r>
          </a:p>
          <a:p>
            <a:r>
              <a:t>На демо задержка эмуляции 50–200 мс и 5% ошибок. В задании для «боевой» эмуляции заложено 30–90 секунд — для прогона я сократил время, чтобы получить нагрузку.</a:t>
            </a:r>
          </a:p>
          <a:p>
            <a:r>
              <a:t>(~60 сек)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Теперь цифры. Стенд поднимается командой task demo:up, нагрузка — 90 секунд и 8 параллельных запросов.</a:t>
            </a:r>
          </a:p>
          <a:p>
            <a:r>
              <a:t>Всего 5443 запроса, 5146 успешных и 287 с ошибкой генерации. 287 — это как раз заложенные 5% эмуляции. Ошибок транспорта не было, ещё 10 запросов отклонены до генерации. p50 — 131 мс, p95 — 200 мс.</a:t>
            </a:r>
          </a:p>
          <a:p>
            <a:r>
              <a:t>В ClickHouse после разбора очереди — 5277 успешных событий и 294 ошибки. Эти счётчики ведутся в другом месте, не в Gateway, поэтому один в один с ответами не совпадают.</a:t>
            </a:r>
          </a:p>
          <a:p>
            <a:r>
              <a:t>(~60 сек)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0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{8CD6634D-CB67-42F1-A98D-B4EE6CB23862}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{8CD6634D-CB67-42F1-A98D-B4EE6CB23862}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7.png"/><Relationship Id="rId4" Type="http://schemas.openxmlformats.org/officeDocument/2006/relationships/image" Target="../media/image5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44.png"/><Relationship Id="rId8" Type="http://schemas.openxmlformats.org/officeDocument/2006/relationships/image" Target="../media/image37.png"/><Relationship Id="rId9" Type="http://schemas.openxmlformats.org/officeDocument/2006/relationships/image" Target="../media/image6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2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250000"/>
            <a:ext cx="7584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Платформа подписок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SaaS-сервис</a:t>
            </a: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39000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49700" y="4127375"/>
            <a:ext cx="36600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OTUS · Микросервисы на Go</a:t>
            </a: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/>
              <a:t>Защита проекта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/>
              <a:t>Тема: Платформа подписок на SaaS-сервис</a:t>
            </a:r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Александр Ципорин</a:t>
            </a: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47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latin typeface="Roboto Medium"/>
                <a:ea typeface="Roboto Medium"/>
                <a:cs typeface="Roboto Medium"/>
                <a:sym typeface="Roboto Medium"/>
              </a:rPr>
              <a:t>Разработчик AI-решений, ПравоТех</a:t>
            </a: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latin typeface="Roboto Medium"/>
                <a:ea typeface="Roboto Medium"/>
                <a:cs typeface="Roboto Medium"/>
                <a:sym typeface="Roboto Medium"/>
              </a:rPr>
              <a:t>Готовлю данные для AI-агентов</a:t>
            </a: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latin typeface="Roboto Medium"/>
                <a:ea typeface="Roboto Medium"/>
                <a:cs typeface="Roboto Medium"/>
                <a:sym typeface="Roboto Medium"/>
              </a:rPr>
              <a:t>и проектирую их логику</a:t>
            </a: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latin typeface="Roboto Medium"/>
                <a:ea typeface="Roboto Medium"/>
                <a:cs typeface="Roboto Medium"/>
                <a:sym typeface="Roboto Medium"/>
              </a:rPr>
              <a:t>В прошлом — инженер данных</a:t>
            </a:r>
          </a:p>
        </p:txBody>
      </p:sp>
      <p:sp>
        <p:nvSpPr>
          <p:cNvPr id="167" name="Oval 166"/>
          <p:cNvSpPr/>
          <p:nvPr/>
        </p:nvSpPr>
        <p:spPr>
          <a:xfrm>
            <a:off x="780000" y="2235726"/>
            <a:ext cx="2000000" cy="2000000"/>
          </a:xfrm>
          <a:prstGeom prst="ellipse">
            <a:avLst/>
          </a:prstGeom>
          <a:solidFill>
            <a:srgbClr val="F3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000" y="2635726"/>
            <a:ext cx="12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</a:t>
            </a: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Стек технологий</a:t>
            </a: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проходит запрос</a:t>
            </a: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Цифры демо</a:t>
            </a: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{8CD6634D-CB67-42F1-A98D-B4EE6CB23862}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Четыре сервиса и Gateway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События и проекция лимита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b="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Платежи и смена тарифа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Метрики, логи, трейсы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>
                          <a:solidFill>
                            <a:srgbClr val="3F299A"/>
                          </a:solidFill>
                        </a:rPr>
                        <a:t>5.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 b="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Прогон под нагрузкой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952500" y="1250000"/>
            <a:ext cx="7239000" cy="80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Цель: </a:t>
            </a:r>
            <a:r>
              <a:rPr lang="ru-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платформа подписок, которая пускает генерацию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только при живой подписке и оставшемся лимите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/>
              <a:t>Выводы</a:t>
            </a:r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2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{8CD6634D-CB67-42F1-A98D-B4EE6CB23862}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lang="ru-RU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Генерация проходит Gateway, подписку и лимит: видно в трейсе и в 5443 ответах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lang="ru-RU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Лимит живёт в Redis, история — в ClickHouse. Овердрафт на графике — 710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lang="ru-RU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Сложнее всего — согласовать быстрый допуск и позднее списание</a:t>
                      </a: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Rounded Rectangle 213"/>
          <p:cNvSpPr/>
          <p:nvPr/>
        </p:nvSpPr>
        <p:spPr>
          <a:xfrm>
            <a:off x="952500" y="3350000"/>
            <a:ext cx="2280000" cy="1050000"/>
          </a:xfrm>
          <a:prstGeom prst="roundRect">
            <a:avLst>
              <a:gd name="adj" fmla="val 18000"/>
            </a:avLst>
          </a:prstGeom>
          <a:solidFill>
            <a:srgbClr val="F3F2FC"/>
          </a:solidFill>
          <a:ln w="12700">
            <a:solidFill>
              <a:srgbClr val="BFC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l"/>
            <a:r>
              <a:rPr sz="1400" b="1">
                <a:solidFill>
                  <a:srgbClr val="3F299A"/>
                </a:solidFill>
                <a:latin typeface="Roboto"/>
              </a:rPr>
              <a:t>Польза курса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Roboto"/>
              </a:rPr>
              <a:t>Главное — DDD и observability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3432500" y="3350000"/>
            <a:ext cx="2280000" cy="1050000"/>
          </a:xfrm>
          <a:prstGeom prst="roundRect">
            <a:avLst>
              <a:gd name="adj" fmla="val 18000"/>
            </a:avLst>
          </a:prstGeom>
          <a:solidFill>
            <a:srgbClr val="F3F2FC"/>
          </a:solidFill>
          <a:ln w="12700">
            <a:solidFill>
              <a:srgbClr val="BFC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l"/>
            <a:r>
              <a:rPr sz="1400" b="1">
                <a:solidFill>
                  <a:srgbClr val="3F299A"/>
                </a:solidFill>
                <a:latin typeface="Roboto"/>
              </a:rPr>
              <a:t>Где ушло время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Roboto"/>
              </a:rPr>
              <a:t>Спецификация задания и эксперименты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912500" y="3350000"/>
            <a:ext cx="2280000" cy="1050000"/>
          </a:xfrm>
          <a:prstGeom prst="roundRect">
            <a:avLst>
              <a:gd name="adj" fmla="val 18000"/>
            </a:avLst>
          </a:prstGeom>
          <a:solidFill>
            <a:srgbClr val="F3F2FC"/>
          </a:solidFill>
          <a:ln w="12700">
            <a:solidFill>
              <a:srgbClr val="BFC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l"/>
            <a:r>
              <a:rPr sz="1400" b="1">
                <a:solidFill>
                  <a:srgbClr val="3F299A"/>
                </a:solidFill>
                <a:latin typeface="Roboto"/>
              </a:rPr>
              <a:t>Что дальше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Roboto"/>
              </a:rPr>
              <a:t>Применить идею проекта на практике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50505"/>
                </a:solidFill>
              </a:rPr>
              <a:t>Какие технологии использовались</a:t>
            </a: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500000"/>
          <a:ext cx="3000000" cy="2600000"/>
        </p:xfrm>
        <a:graphic>
          <a:graphicData uri="http://schemas.openxmlformats.org/drawingml/2006/table">
            <a:tbl>
              <a:tblPr>
                <a:noFill/>
                <a:tableStyleId>{8CD6634D-CB67-42F1-A98D-B4EE6CB23862}</a:tableStyleId>
              </a:tblPr>
              <a:tblGrid>
                <a:gridCol w="489425"/>
                <a:gridCol w="6749575"/>
              </a:tblGrid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Go, chi, gRPC, mTLS</a:t>
                      </a: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сервисы и связь между ними</a:t>
                      </a: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пользователи, тарифы, подписки</a:t>
                      </a: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Redis</a:t>
                      </a: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остаток лимита, </a:t>
                      </a:r>
                      <a:r>
                        <a:rPr sz="1300" lang="ru-RU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события и логи</a:t>
                      </a: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NATS JetStream</a:t>
                      </a: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асинхронные события</a:t>
                      </a: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Prometheus, Grafana, Jaeger</a:t>
                      </a: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наблюдаемость</a:t>
                      </a: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Правила лимита</a:t>
            </a:r>
          </a:p>
        </p:txBody>
      </p:sp>
      <p:sp>
        <p:nvSpPr>
          <p:cNvPr id="425" name="Google Shape;425;p61"/>
          <p:cNvSpPr txBox="1"/>
          <p:nvPr/>
        </p:nvSpPr>
        <p:spPr>
          <a:xfrm>
            <a:off x="1244388" y="2747863"/>
            <a:ext cx="24000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Квота в сообщениях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Токены пишутся только в аналитику и на допуск не влияют</a:t>
            </a:r>
          </a:p>
        </p:txBody>
      </p:sp>
      <p:sp>
        <p:nvSpPr>
          <p:cNvPr id="426" name="Google Shape;426;p61"/>
          <p:cNvSpPr txBox="1"/>
          <p:nvPr/>
        </p:nvSpPr>
        <p:spPr>
          <a:xfrm>
            <a:off x="3520788" y="2747863"/>
            <a:ext cx="24000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Овердрафт без резерва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Параллельные запросы могут увести остаток в минус</a:t>
            </a:r>
          </a:p>
        </p:txBody>
      </p:sp>
      <p:sp>
        <p:nvSpPr>
          <p:cNvPr id="427" name="Google Shape;427;p61"/>
          <p:cNvSpPr txBox="1"/>
          <p:nvPr/>
        </p:nvSpPr>
        <p:spPr>
          <a:xfrm>
            <a:off x="5797188" y="2747863"/>
            <a:ext cx="24000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Тарифы и повторы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B2C при неоплате — базовый тариф. B2B делит лимит организации. Повтор с тем же ключом не применяется</a:t>
            </a:r>
          </a:p>
        </p:txBody>
      </p:sp>
      <p:pic>
        <p:nvPicPr>
          <p:cNvPr id="430" name="Picture 4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5813" y="1791975"/>
            <a:ext cx="685800" cy="685800"/>
          </a:xfrm>
          <a:prstGeom prst="rect">
            <a:avLst/>
          </a:prstGeom>
        </p:spPr>
      </p:pic>
      <p:pic>
        <p:nvPicPr>
          <p:cNvPr id="431" name="Picture 4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13" y="1791975"/>
            <a:ext cx="685800" cy="685800"/>
          </a:xfrm>
          <a:prstGeom prst="rect">
            <a:avLst/>
          </a:prstGeom>
        </p:spPr>
      </p:pic>
      <p:pic>
        <p:nvPicPr>
          <p:cNvPr id="432" name="Picture 4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8613" y="179197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/>
              <a:t>Путь запроса на генерацию</a:t>
            </a:r>
          </a:p>
        </p:txBody>
      </p:sp>
      <p:sp>
        <p:nvSpPr>
          <p:cNvPr id="527" name="Google Shape;527;p68"/>
          <p:cNvSpPr txBox="1"/>
          <p:nvPr/>
        </p:nvSpPr>
        <p:spPr>
          <a:xfrm>
            <a:off x="636781" y="1944853"/>
            <a:ext cx="13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JWT</a:t>
            </a:r>
          </a:p>
        </p:txBody>
      </p:sp>
      <p:sp>
        <p:nvSpPr>
          <p:cNvPr id="528" name="Google Shape;528;p68"/>
          <p:cNvSpPr txBox="1"/>
          <p:nvPr/>
        </p:nvSpPr>
        <p:spPr>
          <a:xfrm>
            <a:off x="2286168" y="1944853"/>
            <a:ext cx="13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Подписка</a:t>
            </a:r>
          </a:p>
        </p:txBody>
      </p:sp>
      <p:sp>
        <p:nvSpPr>
          <p:cNvPr id="529" name="Google Shape;529;p68"/>
          <p:cNvSpPr txBox="1"/>
          <p:nvPr/>
        </p:nvSpPr>
        <p:spPr>
          <a:xfrm>
            <a:off x="3907095" y="1944853"/>
            <a:ext cx="13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Лимит</a:t>
            </a:r>
          </a:p>
        </p:txBody>
      </p:sp>
      <p:sp>
        <p:nvSpPr>
          <p:cNvPr id="530" name="Google Shape;530;p68"/>
          <p:cNvSpPr txBox="1"/>
          <p:nvPr/>
        </p:nvSpPr>
        <p:spPr>
          <a:xfrm>
            <a:off x="5588081" y="1944853"/>
            <a:ext cx="13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Эмуляция AI</a:t>
            </a:r>
          </a:p>
        </p:txBody>
      </p:sp>
      <p:sp>
        <p:nvSpPr>
          <p:cNvPr id="531" name="Google Shape;531;p68"/>
          <p:cNvSpPr txBox="1"/>
          <p:nvPr/>
        </p:nvSpPr>
        <p:spPr>
          <a:xfrm>
            <a:off x="7269047" y="1944853"/>
            <a:ext cx="13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Событие</a:t>
            </a: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{8CD6634D-CB67-42F1-A98D-B4EE6CB23862}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 проверяет токен в Auth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Subscriptions: подписка активна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Usage: остаток больше нуля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50–200 мс, 5% ошибок на демо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NATS: MessageProcessed или MessageFailed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TextBox 532"/>
          <p:cNvSpPr txBox="1"/>
          <p:nvPr/>
        </p:nvSpPr>
        <p:spPr>
          <a:xfrm>
            <a:off x="496600" y="4250000"/>
            <a:ext cx="8200000" cy="400000"/>
          </a:xfrm>
          <a:prstGeom prst="rect">
            <a:avLst/>
          </a:prstGeom>
          <a:noFill/>
        </p:spPr>
        <p:txBody>
          <a:bodyPr wrap="square" anchor="t" lIns="91425" rIns="91425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F299A"/>
                </a:solidFill>
                <a:latin typeface="Roboto"/>
              </a:rPr>
              <a:t>Списание одного сообщения — только после успеха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90 секунд, 8 параллельных запросов</a:t>
            </a:r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50000"/>
          <a:ext cx="5400000" cy="2581625"/>
        </p:xfrm>
        <a:graphic>
          <a:graphicData uri="http://schemas.openxmlformats.org/drawingml/2006/table">
            <a:tbl>
              <a:tblPr>
                <a:noFill/>
                <a:tableStyleId>{8CD6634D-CB67-42F1-A98D-B4EE6CB23862}</a:tableStyleId>
              </a:tblPr>
              <a:tblGrid>
                <a:gridCol w="3000000"/>
                <a:gridCol w="2400000"/>
              </a:tblGrid>
              <a:tr h="4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Показатель</a:t>
                      </a: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Значение</a:t>
                      </a: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Запросы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5443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Успех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5146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Ошибка генерации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287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p50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131 мс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p95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lang="ru-RU">
                          <a:latin typeface="Roboto"/>
                          <a:ea typeface="Roboto"/>
                          <a:cs typeface="Roboto"/>
                          <a:sym typeface="Roboto"/>
                        </a:rPr>
                        <a:t>200 мс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4" name="TextBox 603"/>
          <p:cNvSpPr txBox="1"/>
          <p:nvPr/>
        </p:nvSpPr>
        <p:spPr>
          <a:xfrm>
            <a:off x="563425" y="4300000"/>
            <a:ext cx="8200000" cy="400000"/>
          </a:xfrm>
          <a:prstGeom prst="rect">
            <a:avLst/>
          </a:prstGeom>
          <a:noFill/>
        </p:spPr>
        <p:txBody>
          <a:bodyPr wrap="square" anchor="t" lIns="91425" rIns="91425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Roboto"/>
              </a:rPr>
              <a:t>В ClickHouse после разбора очереди — 5277 успешных событий и 294 ошибки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/>
              <a:t>Снаружи только Gateway</a:t>
            </a:r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latin typeface="Roboto Medium"/>
                <a:ea typeface="Roboto Medium"/>
                <a:cs typeface="Roboto Medium"/>
                <a:sym typeface="Roboto Medium"/>
              </a:rPr>
              <a:t>Внутри — gRPC с mTLS, события — через NATS</a:t>
            </a:r>
          </a:p>
        </p:txBody>
      </p:sp>
      <p:sp>
        <p:nvSpPr>
          <p:cNvPr id="389" name="Rounded Rectangle 388"/>
          <p:cNvSpPr/>
          <p:nvPr/>
        </p:nvSpPr>
        <p:spPr>
          <a:xfrm>
            <a:off x="450000" y="2050000"/>
            <a:ext cx="1250000" cy="62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333333"/>
                </a:solidFill>
                <a:latin typeface="Roboto"/>
              </a:rPr>
              <a:t>Клиент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2150000" y="1950000"/>
            <a:ext cx="1650000" cy="820000"/>
          </a:xfrm>
          <a:prstGeom prst="roundRect">
            <a:avLst>
              <a:gd name="adj" fmla="val 1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Gateway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Roboto"/>
              </a:rPr>
              <a:t>REST · JWT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1700000" y="2360000"/>
            <a:ext cx="450000" cy="0"/>
          </a:xfrm>
          <a:prstGeom prst="line">
            <a:avLst/>
          </a:prstGeom>
          <a:ln w="19050">
            <a:solidFill>
              <a:srgbClr val="3F29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Rounded Rectangle 391"/>
          <p:cNvSpPr/>
          <p:nvPr/>
        </p:nvSpPr>
        <p:spPr>
          <a:xfrm>
            <a:off x="4550000" y="1500000"/>
            <a:ext cx="1750000" cy="480000"/>
          </a:xfrm>
          <a:prstGeom prst="roundRect">
            <a:avLst>
              <a:gd name="adj" fmla="val 18000"/>
            </a:avLst>
          </a:prstGeom>
          <a:solidFill>
            <a:srgbClr val="F3F2FC"/>
          </a:solidFill>
          <a:ln w="12700">
            <a:solidFill>
              <a:srgbClr val="BFC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333333"/>
                </a:solidFill>
                <a:latin typeface="Roboto"/>
              </a:rPr>
              <a:t>Auth</a:t>
            </a:r>
          </a:p>
        </p:txBody>
      </p:sp>
      <p:sp>
        <p:nvSpPr>
          <p:cNvPr id="393" name="Rounded Rectangle 392"/>
          <p:cNvSpPr/>
          <p:nvPr/>
        </p:nvSpPr>
        <p:spPr>
          <a:xfrm>
            <a:off x="6900000" y="1500000"/>
            <a:ext cx="1800000" cy="48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0">
                <a:solidFill>
                  <a:srgbClr val="333333"/>
                </a:solidFill>
                <a:latin typeface="Roboto"/>
              </a:rPr>
              <a:t>PostgreSQL</a:t>
            </a:r>
          </a:p>
        </p:txBody>
      </p:sp>
      <p:cxnSp>
        <p:nvCxnSpPr>
          <p:cNvPr id="394" name="Connector 393"/>
          <p:cNvCxnSpPr/>
          <p:nvPr/>
        </p:nvCxnSpPr>
        <p:spPr>
          <a:xfrm flipV="1">
            <a:off x="3800000" y="1740000"/>
            <a:ext cx="750000" cy="620000"/>
          </a:xfrm>
          <a:prstGeom prst="line">
            <a:avLst/>
          </a:prstGeom>
          <a:ln w="19050">
            <a:solidFill>
              <a:srgbClr val="3F29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6300000" y="1740000"/>
            <a:ext cx="600000" cy="0"/>
          </a:xfrm>
          <a:prstGeom prst="line">
            <a:avLst/>
          </a:prstGeom>
          <a:ln w="1270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ounded Rectangle 395"/>
          <p:cNvSpPr/>
          <p:nvPr/>
        </p:nvSpPr>
        <p:spPr>
          <a:xfrm>
            <a:off x="4550000" y="2100000"/>
            <a:ext cx="1750000" cy="480000"/>
          </a:xfrm>
          <a:prstGeom prst="roundRect">
            <a:avLst>
              <a:gd name="adj" fmla="val 18000"/>
            </a:avLst>
          </a:prstGeom>
          <a:solidFill>
            <a:srgbClr val="F3F2FC"/>
          </a:solidFill>
          <a:ln w="12700">
            <a:solidFill>
              <a:srgbClr val="BFC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333333"/>
                </a:solidFill>
                <a:latin typeface="Roboto"/>
              </a:rPr>
              <a:t>Subscriptions</a:t>
            </a:r>
          </a:p>
        </p:txBody>
      </p:sp>
      <p:sp>
        <p:nvSpPr>
          <p:cNvPr id="397" name="Rounded Rectangle 396"/>
          <p:cNvSpPr/>
          <p:nvPr/>
        </p:nvSpPr>
        <p:spPr>
          <a:xfrm>
            <a:off x="6900000" y="2100000"/>
            <a:ext cx="1800000" cy="48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0">
                <a:solidFill>
                  <a:srgbClr val="333333"/>
                </a:solidFill>
                <a:latin typeface="Roboto"/>
              </a:rPr>
              <a:t>PostgreSQL</a:t>
            </a:r>
          </a:p>
        </p:txBody>
      </p:sp>
      <p:cxnSp>
        <p:nvCxnSpPr>
          <p:cNvPr id="398" name="Connector 397"/>
          <p:cNvCxnSpPr/>
          <p:nvPr/>
        </p:nvCxnSpPr>
        <p:spPr>
          <a:xfrm flipV="1">
            <a:off x="3800000" y="2340000"/>
            <a:ext cx="750000" cy="20000"/>
          </a:xfrm>
          <a:prstGeom prst="line">
            <a:avLst/>
          </a:prstGeom>
          <a:ln w="19050">
            <a:solidFill>
              <a:srgbClr val="3F29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6300000" y="2340000"/>
            <a:ext cx="600000" cy="0"/>
          </a:xfrm>
          <a:prstGeom prst="line">
            <a:avLst/>
          </a:prstGeom>
          <a:ln w="1270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Rounded Rectangle 399"/>
          <p:cNvSpPr/>
          <p:nvPr/>
        </p:nvSpPr>
        <p:spPr>
          <a:xfrm>
            <a:off x="4550000" y="2700000"/>
            <a:ext cx="1750000" cy="480000"/>
          </a:xfrm>
          <a:prstGeom prst="roundRect">
            <a:avLst>
              <a:gd name="adj" fmla="val 18000"/>
            </a:avLst>
          </a:prstGeom>
          <a:solidFill>
            <a:srgbClr val="F3F2FC"/>
          </a:solidFill>
          <a:ln w="12700">
            <a:solidFill>
              <a:srgbClr val="BFC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333333"/>
                </a:solidFill>
                <a:latin typeface="Roboto"/>
              </a:rPr>
              <a:t>Usage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6900000" y="2700000"/>
            <a:ext cx="1800000" cy="48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0">
                <a:solidFill>
                  <a:srgbClr val="333333"/>
                </a:solidFill>
                <a:latin typeface="Roboto"/>
              </a:rPr>
              <a:t>Redis · ClickHouse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800000" y="2360000"/>
            <a:ext cx="750000" cy="580000"/>
          </a:xfrm>
          <a:prstGeom prst="line">
            <a:avLst/>
          </a:prstGeom>
          <a:ln w="19050">
            <a:solidFill>
              <a:srgbClr val="3F29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6300000" y="2940000"/>
            <a:ext cx="600000" cy="0"/>
          </a:xfrm>
          <a:prstGeom prst="line">
            <a:avLst/>
          </a:prstGeom>
          <a:ln w="1270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3650000" y="1500000"/>
            <a:ext cx="900000" cy="300000"/>
          </a:xfrm>
          <a:prstGeom prst="rect">
            <a:avLst/>
          </a:prstGeom>
          <a:noFill/>
        </p:spPr>
        <p:txBody>
          <a:bodyPr wrap="square" anchor="t" lIns="91425" rIns="91425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3F299A"/>
                </a:solidFill>
                <a:latin typeface="Roboto"/>
              </a:rPr>
              <a:t>gRPC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2150000" y="3650000"/>
            <a:ext cx="1650000" cy="560000"/>
          </a:xfrm>
          <a:prstGeom prst="roundRect">
            <a:avLst>
              <a:gd name="adj" fmla="val 18000"/>
            </a:avLst>
          </a:prstGeom>
          <a:solidFill>
            <a:srgbClr val="B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333333"/>
                </a:solidFill>
                <a:latin typeface="Roboto"/>
              </a:rPr>
              <a:t>NATS JetStream</a:t>
            </a:r>
          </a:p>
        </p:txBody>
      </p:sp>
      <p:cxnSp>
        <p:nvCxnSpPr>
          <p:cNvPr id="406" name="Connector 405"/>
          <p:cNvCxnSpPr/>
          <p:nvPr/>
        </p:nvCxnSpPr>
        <p:spPr>
          <a:xfrm>
            <a:off x="2975000" y="2770000"/>
            <a:ext cx="0" cy="880000"/>
          </a:xfrm>
          <a:prstGeom prst="line">
            <a:avLst/>
          </a:prstGeom>
          <a:ln w="19050">
            <a:solidFill>
              <a:srgbClr val="3F29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3000000" y="3000000"/>
            <a:ext cx="1200000" cy="300000"/>
          </a:xfrm>
          <a:prstGeom prst="rect">
            <a:avLst/>
          </a:prstGeom>
          <a:noFill/>
        </p:spPr>
        <p:txBody>
          <a:bodyPr wrap="square" anchor="t" lIns="91425" rIns="91425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F299A"/>
                </a:solidFill>
                <a:latin typeface="Roboto"/>
              </a:rPr>
              <a:t>события</a:t>
            </a:r>
          </a:p>
        </p:txBody>
      </p:sp>
      <p:cxnSp>
        <p:nvCxnSpPr>
          <p:cNvPr id="408" name="Connector 407"/>
          <p:cNvCxnSpPr/>
          <p:nvPr/>
        </p:nvCxnSpPr>
        <p:spPr>
          <a:xfrm flipV="1">
            <a:off x="3800000" y="3180000"/>
            <a:ext cx="1625000" cy="750000"/>
          </a:xfrm>
          <a:prstGeom prst="line">
            <a:avLst/>
          </a:prstGeom>
          <a:ln w="19050">
            <a:solidFill>
              <a:srgbClr val="3F29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450000" y="4450000"/>
            <a:ext cx="8300000" cy="400000"/>
          </a:xfrm>
          <a:prstGeom prst="rect">
            <a:avLst/>
          </a:prstGeom>
          <a:noFill/>
        </p:spPr>
        <p:txBody>
          <a:bodyPr wrap="square" anchor="t" lIns="91425" rIns="91425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Roboto"/>
              </a:rPr>
              <a:t>Публично: регистрация, логин, вебхук. Остальное — с JWT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/>
              <a:t>Бизнес-метрики</a:t>
            </a:r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latin typeface="Roboto Medium"/>
                <a:ea typeface="Roboto Medium"/>
                <a:cs typeface="Roboto Medium"/>
                <a:sym typeface="Roboto Medium"/>
              </a:rPr>
              <a:t>Grafana: сообщения, токены, овердрафт, платежи</a:t>
            </a:r>
          </a:p>
        </p:txBody>
      </p:sp>
      <p:sp>
        <p:nvSpPr>
          <p:cNvPr id="389" name="Google Shape;389;p56"/>
          <p:cNvSpPr txBox="1"/>
          <p:nvPr/>
        </p:nvSpPr>
        <p:spPr>
          <a:xfrm>
            <a:off x="520000" y="1550000"/>
            <a:ext cx="2500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Рост сообщений и токенов с 20:12</a:t>
            </a: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Овердрафт организации: 710</a:t>
            </a: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Платежи дошли до Usage</a:t>
            </a:r>
          </a:p>
        </p:txBody>
      </p:sp>
      <p:pic>
        <p:nvPicPr>
          <p:cNvPr id="390" name="Picture 389" descr="grafana-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00" y="1450000"/>
            <a:ext cx="5450000" cy="280285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/>
              <a:t>Технические метрики и логи</a:t>
            </a:r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latin typeface="Roboto Medium"/>
                <a:ea typeface="Roboto Medium"/>
                <a:cs typeface="Roboto Medium"/>
                <a:sym typeface="Roboto Medium"/>
              </a:rPr>
              <a:t>Grafana: HTTP, p95, здоровье сервисов, логи</a:t>
            </a:r>
          </a:p>
        </p:txBody>
      </p:sp>
      <p:sp>
        <p:nvSpPr>
          <p:cNvPr id="389" name="Google Shape;389;p56"/>
          <p:cNvSpPr txBox="1"/>
          <p:nvPr/>
        </p:nvSpPr>
        <p:spPr>
          <a:xfrm>
            <a:off x="520000" y="1550000"/>
            <a:ext cx="2500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Всплеск /generate: 20:12–20:18</a:t>
            </a: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p95 около 240 мс</a:t>
            </a: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Логи 4 сервисов в одной панели</a:t>
            </a:r>
          </a:p>
        </p:txBody>
      </p:sp>
      <p:pic>
        <p:nvPicPr>
          <p:cNvPr id="390" name="Picture 389" descr="grafana-techni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50" y="1450000"/>
            <a:ext cx="4484150" cy="3400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/>
              <a:t>Один запрос — один трейс</a:t>
            </a:r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latin typeface="Roboto Medium"/>
                <a:ea typeface="Roboto Medium"/>
                <a:cs typeface="Roboto Medium"/>
                <a:sym typeface="Roboto Medium"/>
              </a:rPr>
              <a:t>Jaeger: POST /api/v1/generate</a:t>
            </a:r>
          </a:p>
        </p:txBody>
      </p:sp>
      <p:sp>
        <p:nvSpPr>
          <p:cNvPr id="389" name="Google Shape;389;p56"/>
          <p:cNvSpPr txBox="1"/>
          <p:nvPr/>
        </p:nvSpPr>
        <p:spPr>
          <a:xfrm>
            <a:off x="520000" y="1550000"/>
            <a:ext cx="2500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158.92 мс, 4 сервиса, 11 спанов</a:t>
            </a: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Допуск — около 2 мс</a:t>
            </a: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Остальное — эмуляция AI</a:t>
            </a:r>
          </a:p>
        </p:txBody>
      </p:sp>
      <p:pic>
        <p:nvPicPr>
          <p:cNvPr id="390" name="Picture 389" descr="jaeger-tr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00" y="1450000"/>
            <a:ext cx="5450000" cy="249142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